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1097280" cy="73152"/>
          </a:xfrm>
          <a:prstGeom prst="rect">
            <a:avLst/>
          </a:prstGeom>
          <a:solidFill>
            <a:srgbClr val="C47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4782A"/>
                </a:solidFill>
                <a:latin typeface="Arial"/>
              </a:rPr>
              <a:t>M/S BALTEJ INFRA LLP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E8E2D6"/>
                </a:solidFill>
                <a:latin typeface="Arial"/>
              </a:rPr>
              <a:t>COMPANY DOSSIER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AA3AD"/>
                </a:solidFill>
                <a:latin typeface="Arial"/>
              </a:rPr>
              <a:t>Highway construction · Turnkey contracting · Civil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3AD"/>
                </a:solidFill>
                <a:latin typeface="Arial"/>
              </a:rPr>
              <a:t>Brief overview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782A"/>
                </a:solidFill>
                <a:latin typeface="Arial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8E2D6"/>
                </a:solidFill>
                <a:latin typeface="Arial"/>
              </a:rPr>
              <a:t>Engineering excellence from</a:t>
            </a:r>
          </a:p>
          <a:p>
            <a:pPr algn="l"/>
            <a:r>
              <a:rPr sz="3600" b="1">
                <a:solidFill>
                  <a:srgbClr val="E8E2D6"/>
                </a:solidFill>
                <a:latin typeface="Arial"/>
              </a:rPr>
              <a:t>Jaipur to the Himalayas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>Baltej Infra LLP delivers turnkey civil and highway packages across northern and expanding Indian corridors.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>• Based in Panchkula (Corporate) with multi-state project delivery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>• Focus: highways, hydro-power civil works, structural &amp; general contracting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>• Clients include NHAI, SJVN, NHLML, AAI, East Central Railway, and leading EPC firms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782A"/>
                </a:solidFill>
                <a:latin typeface="Arial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8E2D6"/>
                </a:solidFill>
                <a:latin typeface="Arial"/>
              </a:rPr>
              <a:t>Core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E2D6"/>
                </a:solidFill>
                <a:latin typeface="Arial"/>
              </a:rPr>
              <a:t>01  TURNKEY CONTRACTS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3AD"/>
                </a:solidFill>
                <a:latin typeface="Arial"/>
              </a:rPr>
              <a:t>End-to-end execution from design through delivery.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E2D6"/>
                </a:solidFill>
                <a:latin typeface="Arial"/>
              </a:rPr>
              <a:t>02  HIGHWAY CONSTRUCTION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918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3AD"/>
                </a:solidFill>
                <a:latin typeface="Arial"/>
              </a:rPr>
              <a:t>Mountain terrain, O&amp;M, restoration, and corridor works.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E2D6"/>
                </a:solidFill>
                <a:latin typeface="Arial"/>
              </a:rPr>
              <a:t>03  IN-HOUSE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5195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3AD"/>
                </a:solidFill>
                <a:latin typeface="Arial"/>
              </a:rPr>
              <a:t>Geotechnical and structural design support.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92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E2D6"/>
                </a:solidFill>
                <a:latin typeface="Arial"/>
              </a:rPr>
              <a:t>04  GENERAL CONTRACTING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7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3AD"/>
                </a:solidFill>
                <a:latin typeface="Arial"/>
              </a:rPr>
              <a:t>Building and industrial infrastructure packages.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782A"/>
                </a:solidFill>
                <a:latin typeface="Arial"/>
              </a:rPr>
              <a:t>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8E2D6"/>
                </a:solidFill>
                <a:latin typeface="Arial"/>
              </a:rPr>
              <a:t>Delivery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2468880" cy="2377440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C4782A"/>
                </a:solidFill>
                <a:latin typeface="Arial"/>
              </a:rPr>
              <a:t>27+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2044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3AD"/>
                </a:solidFill>
                <a:latin typeface="Arial"/>
              </a:rPr>
              <a:t>Major projects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2377440"/>
            <a:ext cx="2468880" cy="2377440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6517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C4782A"/>
                </a:solidFill>
                <a:latin typeface="Arial"/>
              </a:rPr>
              <a:t>5+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52044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3AD"/>
                </a:solidFill>
                <a:latin typeface="Arial"/>
              </a:rPr>
              <a:t>States active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2468880" cy="2377440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6517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C4782A"/>
                </a:solidFill>
                <a:latin typeface="Arial"/>
              </a:rPr>
              <a:t>1500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2044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3AD"/>
                </a:solidFill>
                <a:latin typeface="Arial"/>
              </a:rPr>
              <a:t>MW plant infra</a:t>
            </a:r>
          </a:p>
          <a:p>
            <a:pPr algn="l"/>
            <a:r>
              <a:rPr sz="1500" b="0">
                <a:solidFill>
                  <a:srgbClr val="9AA3AD"/>
                </a:solidFill>
                <a:latin typeface="Arial"/>
              </a:rPr>
              <a:t>supported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2377440"/>
            <a:ext cx="2468880" cy="2377440"/>
          </a:xfrm>
          <a:prstGeom prst="rect">
            <a:avLst/>
          </a:prstGeom>
          <a:solidFill>
            <a:srgbClr val="1A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26517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C4782A"/>
                </a:solidFill>
                <a:latin typeface="Arial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52044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3AD"/>
                </a:solidFill>
                <a:latin typeface="Arial"/>
              </a:rPr>
              <a:t>Quality focus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782A"/>
                </a:solidFill>
                <a:latin typeface="Arial"/>
              </a:rPr>
              <a:t>CLIENTS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8E2D6"/>
                </a:solidFill>
                <a:latin typeface="Arial"/>
              </a:rPr>
              <a:t>Trusted by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>•  NHAI — National Highways Authority of India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>•  SJVN Limited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>•  NHLML — National Highways Logistics Management Limited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>•  Airports Authority of India (AAI)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>•  East Central Railway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>•  GR Infraprojects · NHIT · MVD · Mohan Mutha · and others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782A"/>
                </a:solidFill>
                <a:latin typeface="Arial"/>
              </a:rPr>
              <a:t>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8E2D6"/>
                </a:solidFill>
                <a:latin typeface="Arial"/>
              </a:rPr>
              <a:t>Where we deliver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>• National highway O&amp;M, protection, and black-spot rectification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>• Access roads and connectivity for hydro / logistics assets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>• Safety furniture, fencing, view cutters, and corridor works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>• Civil infrastructure supporting power-plant and industrial projects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>Full project list available on the company website → Portfolio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782A"/>
                </a:solidFill>
                <a:latin typeface="Arial"/>
              </a:rPr>
              <a:t>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8E2D6"/>
                </a:solidFill>
                <a:latin typeface="Arial"/>
              </a:rPr>
              <a:t>Get in touch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>Corporate Office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>SCO 297, Second Floor, Above Union Bank of India,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>Sector-20, Panchkula — 134117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>Phone   01724331410  ·  +91 98169 61415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>Email   info@baltejinfra.com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AD"/>
                </a:solidFill>
                <a:latin typeface="Arial"/>
              </a:rPr>
              <a:t>Detailed technical dossier PDF available on request.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